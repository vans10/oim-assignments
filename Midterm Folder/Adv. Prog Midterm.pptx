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chivo Black" charset="1" panose="020B0A03020202020B04"/>
      <p:regular r:id="rId17"/>
    </p:embeddedFon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9302" y="7342472"/>
            <a:ext cx="4689998" cy="1669786"/>
          </a:xfrm>
          <a:custGeom>
            <a:avLst/>
            <a:gdLst/>
            <a:ahLst/>
            <a:cxnLst/>
            <a:rect r="r" b="b" t="t" l="l"/>
            <a:pathLst>
              <a:path h="1669786" w="4689998">
                <a:moveTo>
                  <a:pt x="0" y="0"/>
                </a:moveTo>
                <a:lnTo>
                  <a:pt x="4689998" y="0"/>
                </a:lnTo>
                <a:lnTo>
                  <a:pt x="4689998" y="1669785"/>
                </a:lnTo>
                <a:lnTo>
                  <a:pt x="0" y="1669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704" r="0" b="-2573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238750"/>
            <a:ext cx="9373830" cy="135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8"/>
              </a:lnSpc>
              <a:spcBef>
                <a:spcPct val="0"/>
              </a:spcBef>
            </a:pPr>
            <a:r>
              <a:rPr lang="en-US" sz="5248" spc="-41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Advanced Programming Midterm 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5617" y="2344736"/>
            <a:ext cx="10773446" cy="279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83"/>
              </a:lnSpc>
              <a:spcBef>
                <a:spcPct val="0"/>
              </a:spcBef>
            </a:pPr>
            <a:r>
              <a:rPr lang="en-US" sz="13184" spc="-104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SQL ALCHEMY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13839"/>
            <a:ext cx="9373830" cy="44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8"/>
              </a:lnSpc>
              <a:spcBef>
                <a:spcPct val="0"/>
              </a:spcBef>
            </a:pPr>
            <a:r>
              <a:rPr lang="en-US" sz="3248" spc="-25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Presented By: Vanshika Gupta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82387" y="1076325"/>
            <a:ext cx="9373830" cy="44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48"/>
              </a:lnSpc>
              <a:spcBef>
                <a:spcPct val="0"/>
              </a:spcBef>
            </a:pPr>
            <a:r>
              <a:rPr lang="en-US" sz="3248" spc="-25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Python SQL Toolkit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99594" y="1814513"/>
          <a:ext cx="6511183" cy="657225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What is SQLAlchemy?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Why do we use SQLAlchemy?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Why It’s Great for Data Scientists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Basic Building Blocks of SQLAlchemy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My Project: Spotify Dataset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Business Questions I Answered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What I Learned from SQLAlchemy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5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Conclusion and Tutorial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05760" y="2510319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56015" y="2223090"/>
            <a:ext cx="8648902" cy="100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7"/>
              </a:lnSpc>
            </a:pPr>
            <a:r>
              <a:rPr lang="en-US" sz="28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SQLAlchemy is a Python library that helps you work with databases easily.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7982" y="702523"/>
            <a:ext cx="10129370" cy="96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8"/>
              </a:lnSpc>
              <a:spcBef>
                <a:spcPct val="0"/>
              </a:spcBef>
            </a:pPr>
            <a:r>
              <a:rPr lang="en-US" sz="7108" spc="-5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SQLAlchemy?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6814" y="3744865"/>
            <a:ext cx="956558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 can think of it like this: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 is the language of databases.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Python is the language of data science.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SQLAlchemy connects the two.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7982" y="2232615"/>
            <a:ext cx="46767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4515" y="3744865"/>
            <a:ext cx="7949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465" y="6226445"/>
            <a:ext cx="9324887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SQLAlchemy has two main layers: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Core – This is the lower-level layer where you write SQL expressions using Python syntax.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ORM (Object Relational Mapper) – This is the high-level layer that lets you work with Python objects instead of SQL tables.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5124" y="6226445"/>
            <a:ext cx="7949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9606973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94409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6443194" y="-224671"/>
            <a:ext cx="1816448" cy="2862597"/>
          </a:xfrm>
          <a:custGeom>
            <a:avLst/>
            <a:gdLst/>
            <a:ahLst/>
            <a:cxnLst/>
            <a:rect r="r" b="b" t="t" l="l"/>
            <a:pathLst>
              <a:path h="2862597" w="1816448">
                <a:moveTo>
                  <a:pt x="0" y="0"/>
                </a:moveTo>
                <a:lnTo>
                  <a:pt x="1816447" y="0"/>
                </a:lnTo>
                <a:lnTo>
                  <a:pt x="1816447" y="2862597"/>
                </a:lnTo>
                <a:lnTo>
                  <a:pt x="0" y="2862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08406" y="5143500"/>
            <a:ext cx="5016359" cy="3905394"/>
            <a:chOff x="0" y="0"/>
            <a:chExt cx="6688478" cy="52071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806241" y="1781455"/>
              <a:ext cx="5075997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It’s safe and reliable.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49487"/>
              <a:ext cx="6688478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SQLAlchemy prevents common database mistakes like inserting duplicates or deleting wrong data accidentally.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2972375" y="0"/>
              <a:ext cx="1338847" cy="1636368"/>
            </a:xfrm>
            <a:custGeom>
              <a:avLst/>
              <a:gdLst/>
              <a:ahLst/>
              <a:cxnLst/>
              <a:rect r="r" b="b" t="t" l="l"/>
              <a:pathLst>
                <a:path h="1636368" w="1338847">
                  <a:moveTo>
                    <a:pt x="0" y="0"/>
                  </a:moveTo>
                  <a:lnTo>
                    <a:pt x="1338846" y="0"/>
                  </a:lnTo>
                  <a:lnTo>
                    <a:pt x="1338846" y="1636368"/>
                  </a:lnTo>
                  <a:lnTo>
                    <a:pt x="0" y="1636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24764" y="1718396"/>
            <a:ext cx="5016359" cy="3101254"/>
            <a:chOff x="0" y="0"/>
            <a:chExt cx="6688478" cy="4135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26055" y="0"/>
              <a:ext cx="1636368" cy="1636368"/>
            </a:xfrm>
            <a:custGeom>
              <a:avLst/>
              <a:gdLst/>
              <a:ahLst/>
              <a:cxnLst/>
              <a:rect r="r" b="b" t="t" l="l"/>
              <a:pathLst>
                <a:path h="1636368" w="1636368">
                  <a:moveTo>
                    <a:pt x="0" y="0"/>
                  </a:moveTo>
                  <a:lnTo>
                    <a:pt x="1636368" y="0"/>
                  </a:lnTo>
                  <a:lnTo>
                    <a:pt x="1636368" y="1636368"/>
                  </a:lnTo>
                  <a:lnTo>
                    <a:pt x="0" y="1636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806241" y="1852268"/>
              <a:ext cx="5075997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It saves time.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672600"/>
              <a:ext cx="668847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Instead of writing long SQL code, you can just use short Python commands.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0801" y="2088940"/>
            <a:ext cx="5016359" cy="3509358"/>
            <a:chOff x="0" y="0"/>
            <a:chExt cx="6688478" cy="4679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377257" y="0"/>
              <a:ext cx="1933964" cy="966982"/>
            </a:xfrm>
            <a:custGeom>
              <a:avLst/>
              <a:gdLst/>
              <a:ahLst/>
              <a:cxnLst/>
              <a:rect r="r" b="b" t="t" l="l"/>
              <a:pathLst>
                <a:path h="966982" w="1933964">
                  <a:moveTo>
                    <a:pt x="0" y="0"/>
                  </a:moveTo>
                  <a:lnTo>
                    <a:pt x="1933964" y="0"/>
                  </a:lnTo>
                  <a:lnTo>
                    <a:pt x="1933964" y="966982"/>
                  </a:lnTo>
                  <a:lnTo>
                    <a:pt x="0" y="966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06241" y="1101007"/>
              <a:ext cx="5075997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It connects Python to databases.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216739"/>
              <a:ext cx="668847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You can connect to almost any database — like SQLite, MySQL, or PostgreSQL.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29230" y="5946482"/>
            <a:ext cx="5016359" cy="3102412"/>
            <a:chOff x="0" y="0"/>
            <a:chExt cx="6688478" cy="413655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806241" y="1701413"/>
              <a:ext cx="5075997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It works with pandas.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169445"/>
              <a:ext cx="6688478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You can easily move data between pandas and SQL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195246" y="0"/>
              <a:ext cx="2161148" cy="1701413"/>
            </a:xfrm>
            <a:custGeom>
              <a:avLst/>
              <a:gdLst/>
              <a:ahLst/>
              <a:cxnLst/>
              <a:rect r="r" b="b" t="t" l="l"/>
              <a:pathLst>
                <a:path h="1701413" w="2161148">
                  <a:moveTo>
                    <a:pt x="0" y="0"/>
                  </a:moveTo>
                  <a:lnTo>
                    <a:pt x="2161147" y="0"/>
                  </a:lnTo>
                  <a:lnTo>
                    <a:pt x="2161147" y="1701413"/>
                  </a:lnTo>
                  <a:lnTo>
                    <a:pt x="0" y="170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0916" y="700314"/>
            <a:ext cx="1270138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do we use SQLAlchemy?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68780" y="446421"/>
            <a:ext cx="3316372" cy="1296400"/>
          </a:xfrm>
          <a:custGeom>
            <a:avLst/>
            <a:gdLst/>
            <a:ahLst/>
            <a:cxnLst/>
            <a:rect r="r" b="b" t="t" l="l"/>
            <a:pathLst>
              <a:path h="1296400" w="3316372">
                <a:moveTo>
                  <a:pt x="0" y="0"/>
                </a:moveTo>
                <a:lnTo>
                  <a:pt x="3316372" y="0"/>
                </a:lnTo>
                <a:lnTo>
                  <a:pt x="3316372" y="1296400"/>
                </a:lnTo>
                <a:lnTo>
                  <a:pt x="0" y="129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5770" y="6536290"/>
            <a:ext cx="2722010" cy="2722010"/>
          </a:xfrm>
          <a:custGeom>
            <a:avLst/>
            <a:gdLst/>
            <a:ahLst/>
            <a:cxnLst/>
            <a:rect r="r" b="b" t="t" l="l"/>
            <a:pathLst>
              <a:path h="2722010" w="2722010">
                <a:moveTo>
                  <a:pt x="0" y="0"/>
                </a:moveTo>
                <a:lnTo>
                  <a:pt x="2722011" y="0"/>
                </a:lnTo>
                <a:lnTo>
                  <a:pt x="2722011" y="2722010"/>
                </a:lnTo>
                <a:lnTo>
                  <a:pt x="0" y="2722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3953" y="6390178"/>
            <a:ext cx="2453336" cy="2759376"/>
          </a:xfrm>
          <a:custGeom>
            <a:avLst/>
            <a:gdLst/>
            <a:ahLst/>
            <a:cxnLst/>
            <a:rect r="r" b="b" t="t" l="l"/>
            <a:pathLst>
              <a:path h="2759376" w="2453336">
                <a:moveTo>
                  <a:pt x="0" y="0"/>
                </a:moveTo>
                <a:lnTo>
                  <a:pt x="2453336" y="0"/>
                </a:lnTo>
                <a:lnTo>
                  <a:pt x="2453336" y="2759376"/>
                </a:lnTo>
                <a:lnTo>
                  <a:pt x="0" y="27593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32955" y="6032252"/>
            <a:ext cx="4022091" cy="3475228"/>
          </a:xfrm>
          <a:custGeom>
            <a:avLst/>
            <a:gdLst/>
            <a:ahLst/>
            <a:cxnLst/>
            <a:rect r="r" b="b" t="t" l="l"/>
            <a:pathLst>
              <a:path h="3475228" w="4022091">
                <a:moveTo>
                  <a:pt x="0" y="0"/>
                </a:moveTo>
                <a:lnTo>
                  <a:pt x="4022090" y="0"/>
                </a:lnTo>
                <a:lnTo>
                  <a:pt x="4022090" y="3475227"/>
                </a:lnTo>
                <a:lnTo>
                  <a:pt x="0" y="34752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7999" y="541671"/>
            <a:ext cx="121001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It’s Great for Data Scientists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7999" y="1582563"/>
            <a:ext cx="13457575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SQLAlchemy helps because: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 can pull data directly from databases into Python.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 can filter, group, and clean it using SQL commands from inside your notebook.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 can save results back into the database — no need for Excel or CSVs.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It’s like having Excel, SQL, and Python all in one place.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5343" y="1742057"/>
            <a:ext cx="16473957" cy="7516243"/>
          </a:xfrm>
          <a:custGeom>
            <a:avLst/>
            <a:gdLst/>
            <a:ahLst/>
            <a:cxnLst/>
            <a:rect r="r" b="b" t="t" l="l"/>
            <a:pathLst>
              <a:path h="7516243" w="16473957">
                <a:moveTo>
                  <a:pt x="0" y="0"/>
                </a:moveTo>
                <a:lnTo>
                  <a:pt x="16473957" y="0"/>
                </a:lnTo>
                <a:lnTo>
                  <a:pt x="16473957" y="7516243"/>
                </a:lnTo>
                <a:lnTo>
                  <a:pt x="0" y="751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5343" y="683473"/>
            <a:ext cx="1454221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Basic Building Blocks of SQLAlchemy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13809" y="2895366"/>
          <a:ext cx="7825449" cy="5248275"/>
        </p:xfrm>
        <a:graphic>
          <a:graphicData uri="http://schemas.openxmlformats.org/drawingml/2006/table">
            <a:tbl>
              <a:tblPr/>
              <a:tblGrid>
                <a:gridCol w="5387428"/>
              </a:tblGrid>
              <a:tr h="14313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Used a real Spotify dataset (~600,000 tracks)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3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Imported it into a database using SQLAlchemy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13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Explored music patterns with SQL queries in Python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2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Answered business questions using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9470842" y="2541557"/>
            <a:ext cx="8034931" cy="5955893"/>
          </a:xfrm>
          <a:custGeom>
            <a:avLst/>
            <a:gdLst/>
            <a:ahLst/>
            <a:cxnLst/>
            <a:rect r="r" b="b" t="t" l="l"/>
            <a:pathLst>
              <a:path h="5955893" w="8034931">
                <a:moveTo>
                  <a:pt x="0" y="0"/>
                </a:moveTo>
                <a:lnTo>
                  <a:pt x="8034931" y="0"/>
                </a:lnTo>
                <a:lnTo>
                  <a:pt x="8034931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13576482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My P</a:t>
            </a: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roject: Spotify Dataset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4142" y="1708816"/>
            <a:ext cx="16903514" cy="7923522"/>
          </a:xfrm>
          <a:custGeom>
            <a:avLst/>
            <a:gdLst/>
            <a:ahLst/>
            <a:cxnLst/>
            <a:rect r="r" b="b" t="t" l="l"/>
            <a:pathLst>
              <a:path h="7923522" w="16903514">
                <a:moveTo>
                  <a:pt x="0" y="0"/>
                </a:moveTo>
                <a:lnTo>
                  <a:pt x="16903514" y="0"/>
                </a:lnTo>
                <a:lnTo>
                  <a:pt x="16903514" y="7923522"/>
                </a:lnTo>
                <a:lnTo>
                  <a:pt x="0" y="7923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142" y="684598"/>
            <a:ext cx="13491007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Business Questions I Answered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703" y="4216202"/>
            <a:ext cx="14991240" cy="1312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162887"/>
            <a:ext cx="139968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 Learned from SQLAlchemy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0585" y="5278665"/>
            <a:ext cx="2277734" cy="1901292"/>
            <a:chOff x="0" y="0"/>
            <a:chExt cx="3036979" cy="253505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22859"/>
              <a:ext cx="3036979" cy="1912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SQLAlchemy made data handling faster and safer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66520" y="5278665"/>
            <a:ext cx="2277734" cy="2263242"/>
            <a:chOff x="0" y="0"/>
            <a:chExt cx="3036979" cy="30176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22859"/>
              <a:ext cx="3036979" cy="2394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Easy to connect Python, pandas, and SQL together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58705" y="5278665"/>
            <a:ext cx="2277734" cy="1901292"/>
            <a:chOff x="0" y="0"/>
            <a:chExt cx="3036979" cy="253505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22859"/>
              <a:ext cx="3036979" cy="1912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Helped me analyze, filter, and visualize data directly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18043" y="5278665"/>
            <a:ext cx="2343504" cy="2263242"/>
            <a:chOff x="0" y="0"/>
            <a:chExt cx="3124672" cy="301765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3124672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22859"/>
              <a:ext cx="3124672" cy="2394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Similar approach can be used for real company databases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8703" y="3949068"/>
            <a:ext cx="533800" cy="533800"/>
          </a:xfrm>
          <a:custGeom>
            <a:avLst/>
            <a:gdLst/>
            <a:ahLst/>
            <a:cxnLst/>
            <a:rect r="r" b="b" t="t" l="l"/>
            <a:pathLst>
              <a:path h="533800" w="533800">
                <a:moveTo>
                  <a:pt x="0" y="0"/>
                </a:moveTo>
                <a:lnTo>
                  <a:pt x="533800" y="0"/>
                </a:lnTo>
                <a:lnTo>
                  <a:pt x="533800" y="533800"/>
                </a:lnTo>
                <a:lnTo>
                  <a:pt x="0" y="53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738487" y="3949068"/>
            <a:ext cx="533800" cy="533800"/>
          </a:xfrm>
          <a:custGeom>
            <a:avLst/>
            <a:gdLst/>
            <a:ahLst/>
            <a:cxnLst/>
            <a:rect r="r" b="b" t="t" l="l"/>
            <a:pathLst>
              <a:path h="533800" w="533800">
                <a:moveTo>
                  <a:pt x="0" y="0"/>
                </a:moveTo>
                <a:lnTo>
                  <a:pt x="533801" y="0"/>
                </a:lnTo>
                <a:lnTo>
                  <a:pt x="533801" y="533800"/>
                </a:lnTo>
                <a:lnTo>
                  <a:pt x="0" y="53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22895" y="3962422"/>
            <a:ext cx="533800" cy="533800"/>
          </a:xfrm>
          <a:custGeom>
            <a:avLst/>
            <a:gdLst/>
            <a:ahLst/>
            <a:cxnLst/>
            <a:rect r="r" b="b" t="t" l="l"/>
            <a:pathLst>
              <a:path h="533800" w="533800">
                <a:moveTo>
                  <a:pt x="0" y="0"/>
                </a:moveTo>
                <a:lnTo>
                  <a:pt x="533800" y="0"/>
                </a:lnTo>
                <a:lnTo>
                  <a:pt x="533800" y="533800"/>
                </a:lnTo>
                <a:lnTo>
                  <a:pt x="0" y="53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019943" y="3949068"/>
            <a:ext cx="533800" cy="533800"/>
          </a:xfrm>
          <a:custGeom>
            <a:avLst/>
            <a:gdLst/>
            <a:ahLst/>
            <a:cxnLst/>
            <a:rect r="r" b="b" t="t" l="l"/>
            <a:pathLst>
              <a:path h="533800" w="533800">
                <a:moveTo>
                  <a:pt x="0" y="0"/>
                </a:moveTo>
                <a:lnTo>
                  <a:pt x="533800" y="0"/>
                </a:lnTo>
                <a:lnTo>
                  <a:pt x="533800" y="533800"/>
                </a:lnTo>
                <a:lnTo>
                  <a:pt x="0" y="53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30672" y="3949068"/>
            <a:ext cx="533800" cy="533800"/>
          </a:xfrm>
          <a:custGeom>
            <a:avLst/>
            <a:gdLst/>
            <a:ahLst/>
            <a:cxnLst/>
            <a:rect r="r" b="b" t="t" l="l"/>
            <a:pathLst>
              <a:path h="533800" w="533800">
                <a:moveTo>
                  <a:pt x="0" y="0"/>
                </a:moveTo>
                <a:lnTo>
                  <a:pt x="533800" y="0"/>
                </a:lnTo>
                <a:lnTo>
                  <a:pt x="533800" y="533800"/>
                </a:lnTo>
                <a:lnTo>
                  <a:pt x="0" y="53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098759" y="5291404"/>
            <a:ext cx="2893636" cy="1901292"/>
            <a:chOff x="0" y="0"/>
            <a:chExt cx="3858181" cy="253505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3858181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22859"/>
              <a:ext cx="3858181" cy="1912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Built a complete pipeline: load → query → analyze → visualize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487035"/>
            <a:ext cx="11301259" cy="4421618"/>
          </a:xfrm>
          <a:custGeom>
            <a:avLst/>
            <a:gdLst/>
            <a:ahLst/>
            <a:cxnLst/>
            <a:rect r="r" b="b" t="t" l="l"/>
            <a:pathLst>
              <a:path h="4421618" w="11301259">
                <a:moveTo>
                  <a:pt x="0" y="0"/>
                </a:moveTo>
                <a:lnTo>
                  <a:pt x="11301258" y="0"/>
                </a:lnTo>
                <a:lnTo>
                  <a:pt x="11301258" y="4421617"/>
                </a:lnTo>
                <a:lnTo>
                  <a:pt x="0" y="4421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133683"/>
            <a:ext cx="18288000" cy="262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50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 conclude, SQLAlchemy really simplified how I worked with large datasets.</a:t>
            </a:r>
          </a:p>
          <a:p>
            <a:pPr algn="l" marL="582927" indent="-291463" lvl="1">
              <a:lnSpc>
                <a:spcPts val="350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It connected Python and SQL perfectly, so I could query and analyze Spotify data easily inside my notebook.</a:t>
            </a:r>
          </a:p>
          <a:p>
            <a:pPr algn="l" marL="582927" indent="-291463" lvl="1">
              <a:lnSpc>
                <a:spcPts val="350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It saved time, reduced complexity, and made my analysis more structured and scalable.</a:t>
            </a:r>
          </a:p>
          <a:p>
            <a:pPr algn="l" marL="582927" indent="-291463" lvl="1">
              <a:lnSpc>
                <a:spcPts val="350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Overall, it’s a great tool for anyone working in data science, especially when dealing with databases in real projects.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62887"/>
            <a:ext cx="139968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 and Tutorial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5569" y="3775612"/>
            <a:ext cx="13996862" cy="294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7"/>
              </a:lnSpc>
            </a:pPr>
            <a:r>
              <a:rPr lang="en-US" sz="11607" spc="-91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  <a:p>
            <a:pPr algn="ctr">
              <a:lnSpc>
                <a:spcPts val="5808"/>
              </a:lnSpc>
            </a:pPr>
          </a:p>
          <a:p>
            <a:pPr algn="ct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By Vanshika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DAG3leOMoy4</dc:identifier>
  <dcterms:modified xsi:type="dcterms:W3CDTF">2011-08-01T06:04:30Z</dcterms:modified>
  <cp:revision>1</cp:revision>
  <dc:title>Beige and Black Minimalist Project Deck Presentation</dc:title>
</cp:coreProperties>
</file>